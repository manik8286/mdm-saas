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9" r:id="rId20"/>
    <p:sldId id="258" r:id="rId9"/>
    <p:sldId id="259" r:id="rId10"/>
    <p:sldId id="260" r:id="rId11"/>
    <p:sldId id="261" r:id="rId12"/>
    <p:sldId id="270" r:id="rId21"/>
    <p:sldId id="271" r:id="rId22"/>
    <p:sldId id="262" r:id="rId13"/>
    <p:sldId id="263" r:id="rId14"/>
    <p:sldId id="264" r:id="rId15"/>
    <p:sldId id="265" r:id="rId16"/>
    <p:sldId id="272" r:id="rId23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73152" cy="18288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</a:rPr>
              <a:t>MDM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91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93C5FD"/>
                </a:solidFill>
              </a:rPr>
              <a:t>Multi-Tenant Apple Device Management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060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D4ED8"/>
                </a:solidFill>
              </a:rPr>
              <a:t>Product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2004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  ✦  Enrollment &amp; Device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58444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  ✦  Platform SSO with Microsoft Entra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96849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  ✦  Software Distribution &amp; Self-Service 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352544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  ✦  USB Policy, Gatekeeper &amp;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73659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  ✦  JIT Admin Access with Auto-Revoke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Built with FastAPI · PostgreSQL · Apple APNs · Next.js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Managing macOS devices at scale — without the complexity of enterprise MDM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9496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</a:rPr>
              <a:t>❌  Traditional Pain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</a:rPr>
              <a:t>• High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848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Legacy MDM tools (Jamf, Kandji) cost $6–15/device/month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</a:rPr>
              <a:t>• Complex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70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Requires dedicated IT staff and weeks of onboarding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</a:rPr>
              <a:t>• No PSSO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56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Most tools don't support macOS Platform SSO with Entra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</a:rPr>
              <a:t>• No agent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1422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Can't run custom scripts or manage admin access remotely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</a:rPr>
              <a:t>• Siloed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28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Software requests, access, compliance in separate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188720"/>
            <a:ext cx="5852160" cy="51206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3258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59669"/>
                </a:solidFill>
              </a:rPr>
              <a:t>✅  Our 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828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• Affordable SaaS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084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  Multi-tenant — one server, many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514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• 5-minute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770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  Docker Compose → enroll device in minutes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• Native PSSO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4564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  Built-in Entra ID Platform SSO with Secure Enclave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886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• Management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1422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  Pure-bash agent — installs apps, elevates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• Unified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828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  Device mgmt + software + compliance + access in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High-Level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BAD8FF"/>
                </a:solidFill>
              </a:rPr>
              <a:t>End-to-end platform showing all components and their interactions</a:t>
            </a:r>
          </a:p>
        </p:txBody>
      </p:sp>
      <p:pic>
        <p:nvPicPr>
          <p:cNvPr id="6" name="Picture 5" descr="arc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58368"/>
            <a:ext cx="12097512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How it all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286000" cy="1463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371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Next.js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5564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Admin web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993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Device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2311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Policy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688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Audit logs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1280160"/>
            <a:ext cx="2560320" cy="1463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3716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17556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REST API /api/v1/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199339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MDM protocol /mdm/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2311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JWT + mTLS 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4688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Async/await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280160"/>
            <a:ext cx="2560320" cy="1463040"/>
          </a:xfrm>
          <a:prstGeom prst="rect">
            <a:avLst/>
          </a:prstGeom>
          <a:solidFill>
            <a:srgbClr val="336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3716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556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Tenants &amp; devices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199339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Commands queue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2311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Compliance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24688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Audit trail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1280160"/>
            <a:ext cx="3017520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13716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Apple APNs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1755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Wake-up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19933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HTTP/2 provider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22311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Per-device push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246888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Instant delivery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2286000" cy="1463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1089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macOS Device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34930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MDM protocol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3730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Checkin + Connect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39684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Profile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42062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Command execute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3017520"/>
            <a:ext cx="2560320" cy="14630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35808" y="3108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Bash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35808" y="34930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LaunchDaemon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35808" y="37307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Polls for jobs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5808" y="39684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Installs software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35808" y="42062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Reports results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3017520"/>
            <a:ext cx="2560320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108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AWS SQS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34930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Command queue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37307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LocalStack (dev)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39684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Async processing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61888" y="42062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Reliable delivery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78240" y="3017520"/>
            <a:ext cx="3017520" cy="1463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87968" y="310896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Self-Service Portal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87968" y="34930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Software catalog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87968" y="373075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App requests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87968" y="396849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Admin access req.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87968" y="420624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Token-authenticated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754880"/>
            <a:ext cx="1161288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846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Command Flow: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1663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Admin action  →  FastAPI queues command in PostgreSQL  →  SQS message sent  →  APNs wake-up push to device  →  Device calls /mdm/apple/connect  →  Server returns command plist  →  Device executes  →  Result stored in DB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Device Enrollment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Zero-touch enrollment with signed .mobileconfig profiles</a:t>
            </a:r>
          </a:p>
        </p:txBody>
      </p:sp>
      <p:sp>
        <p:nvSpPr>
          <p:cNvPr id="6" name="Oval 5"/>
          <p:cNvSpPr/>
          <p:nvPr/>
        </p:nvSpPr>
        <p:spPr>
          <a:xfrm>
            <a:off x="274320" y="1280160"/>
            <a:ext cx="640080" cy="64008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16736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57400"/>
            <a:ext cx="21945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</a:rPr>
              <a:t>Generate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78608"/>
            <a:ext cx="2011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Admin creates enrollment token in dashboard.
Choose platform (macOS), reusable or single-use, expiry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886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2606040" y="128016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316736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2057400"/>
            <a:ext cx="21945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</a:rPr>
              <a:t>Share URL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578608"/>
            <a:ext cx="2011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Enrollment URL shared with user.
Open in Safari on the Mac — no agent pre-installed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886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4937760" y="1280160"/>
            <a:ext cx="640080" cy="6400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316736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057400"/>
            <a:ext cx="21945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</a:rPr>
              <a:t>Install 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578608"/>
            <a:ext cx="2011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Signed .mobileconfig downloaded.
macOS prompts user to install the MDM enrollment profile.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886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7269480" y="1280160"/>
            <a:ext cx="640080" cy="6400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1316736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2057400"/>
            <a:ext cx="21945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</a:rPr>
              <a:t>Authenticate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2578608"/>
            <a:ext cx="2011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Device sends Authenticate + TokenUpdate to /mdm/apple/checkin.
Server stores APNs push token.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3886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9601200" y="1280160"/>
            <a:ext cx="640080" cy="6400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1316736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2057400"/>
            <a:ext cx="21945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</a:rPr>
              <a:t>Enrolled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578608"/>
            <a:ext cx="2011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Device appears in dashboard as 'enrolled'.
APNs push, serial, OS version, model all captured.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282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After enrollment: device receives APNs push within seconds for any remote action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Full remote control over enrolled macOS devices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65176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43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🔒  Lock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Send PIN +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221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Immediate via APNs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752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Device shows lock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282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Audit logged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188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188720"/>
            <a:ext cx="2651760" cy="411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243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🗑️  Erase Device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1691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Full wipe + reinstall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2221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Configurable PIN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2752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CheckOutWhenRemoved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3282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Irreversible 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1188720"/>
            <a:ext cx="265176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243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🔄  Restart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1691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Graceful restart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221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Queued via APNs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752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Useful after profile 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3282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Instant delivery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1188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2560" y="1188720"/>
            <a:ext cx="265176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1243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 Query Info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1691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Serial, model, 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2221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FileVault, Firewall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52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Supervised 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3282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Updates available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474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3474720"/>
            <a:ext cx="2651760" cy="411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29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👥  Device Users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3977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List local users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4507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Admin / standard role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038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Secure Token status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5568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Last login time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0" y="3474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0" y="3474720"/>
            <a:ext cx="265176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3529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📦  Patch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10128" y="3977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Installed app inventory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0128" y="4507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Available OS updates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5038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Critical update count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10128" y="5568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Remote install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3474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80" y="3474720"/>
            <a:ext cx="265176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3529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🛡️  Compliance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3977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Policy evaluation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4507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Pass / Fail / Unknown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5038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Per-device report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6208" y="5568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Fleet dashboard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52560" y="3474720"/>
            <a:ext cx="26517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52560" y="3474720"/>
            <a:ext cx="265176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0" y="3529584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 Audit Logs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9776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All admin actions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62288" y="450799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Actor email + 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2288" y="5038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Resource + changes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62288" y="556869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</a:rPr>
              <a:t>✓  Export as 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SSO — Microsoft Entra 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Passwordless macOS login with corporate credentials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5303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4ED8"/>
                </a:solidFill>
              </a:rPr>
              <a:t>What is PSSO?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macOS 13+ native Single Sign-On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Login to Mac using Microsoft Entra ID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Secure Enclave key — no password stored on disk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Seamless SSO to all Microsoft 365 / Azure apps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Requires Microsoft Company Portal installed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Delivered via com.apple.extensiblesso MDM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51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→  Registration token from Entra automates device join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188720"/>
            <a:ext cx="5852160" cy="5303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D4ED8"/>
                </a:solidFill>
              </a:rPr>
              <a:t>Profile Payload (mobileconfig)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PayloadType: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78308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com.apple.extensiblesso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16712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ExtensionIdentifier: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16712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com.microsoft.CompanyPortalMac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55117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TeamIdentifier: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55117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UBF8T346G9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93522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Type: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93522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Credential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3192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AuthenticationMethod: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192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UserSecureEnclaveKey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EnableCreateUserAtLogin: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08736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RegistrationToken: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0873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&lt;from Entra portal&gt;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47141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D3FC"/>
                </a:solidFill>
              </a:rPr>
              <a:t>AdministratorGroups: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44714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F7D0"/>
                </a:solidFill>
              </a:rPr>
              <a:t>["IT Admins"]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5760720"/>
            <a:ext cx="58521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58338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Push to all enrolled devices in one click from the Policies page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Software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Upload once, deploy to any device via self-service portal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88720"/>
            <a:ext cx="2743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274320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2344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1. Upload Package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55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Admin uploads .pkg/.dmg/.zip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500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Up to 4 GB supported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Stored securely on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38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Versioning &amp; 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474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188720"/>
            <a:ext cx="2743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188720"/>
            <a:ext cx="27432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2344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2. Portal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1755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Appears in self-service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3500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User sees 'IT Managed' apps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One-click install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538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Token-authenticated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474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188720"/>
            <a:ext cx="2743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188720"/>
            <a:ext cx="274320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2344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3. Admin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755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Request appears in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500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Admin reviews + approves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Or set auto-approve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38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Audit logged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3474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60" y="1188720"/>
            <a:ext cx="2743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1188720"/>
            <a:ext cx="27432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12344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4. Agent Installs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1755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Agent picks up job in 30s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3500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Runs installer silently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Reports exit code +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538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✓  Status: installing → done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6400800"/>
            <a:ext cx="1170432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43737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Management Agent — pure bash LaunchDaemon, no Python or Xcode required. Bootstrap: curl -sSLG -d auth=&lt;token&gt; &lt;url&gt; | sudo bash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USB Block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Block or allow external storage — fleet-wide or per device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D4ED8"/>
                </a:solidFill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• macOS 12–13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com.apple.systemuiserver with mount-controls. Denies harddisk-external, disk-image, DVD, CD, BD.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877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• macOS 14+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20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com.apple.security.diskaccess with DenyExternalStorage: true. Full enforcement on supervised devices.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924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• Both payloads sent together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66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Single profile push covers all macOS versions automatically.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970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• Deterministic identifier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714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com.mdmsaas.usb.block.profile.{tenant_id} — ensures RemoveProfile always finds the right profile.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• Removal disallowed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76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  Profile cannot be removed by user — only via MDM RemoveProfile command.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188720"/>
            <a:ext cx="5852160" cy="2286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A580C"/>
                </a:solidFill>
              </a:rPr>
              <a:t>Fleet Push (All Devices)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719072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Policies page → USB Block → Push to All
Queues InstallProfile for every enrolled device simultaneously.
APNs push wakes each device instantly.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657600"/>
            <a:ext cx="585216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749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</a:rPr>
              <a:t>Per-Device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187952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Device Detail page → Block USB / Remove USB Block
Block: InstallProfile queued for that device only.
Remove: RemoveProfile with deterministic identifier — works reliably every time.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6035040"/>
            <a:ext cx="5852160" cy="6400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6080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Requires supervised device for silent enforcement.
Unsupervised: macOS shows user-dismissable warning dialog.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JIT Admin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Temporary, audited admin elevation — auto-revoked on expiry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65176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65176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3444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2880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User opens self-service portal on their Mac.
Selects their account, enters a reason and duration (1–24h).
Request sent to admin dashboard.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188720"/>
            <a:ext cx="265176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188720"/>
            <a:ext cx="2651760" cy="502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23444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Admin reviews request in dashboard.
Approves with optional duration override.
revoke_at timestamp set in 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4" y="1188720"/>
            <a:ext cx="265176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4" y="1188720"/>
            <a:ext cx="265176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23444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82880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Management agent picks up dseditgroup job.
Adds user to 'admin' group on macOS.
User is now local admin for the duration.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188720"/>
            <a:ext cx="265176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188720"/>
            <a:ext cx="265176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23444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Auto-Revoke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182880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Background worker checks every 60 seconds.
When revoke_at ≤ now: removes from admin group.
Webhook notification sent (Slack/Teams/Discord).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989320"/>
            <a:ext cx="1161288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9669"/>
                </a:solidFill>
              </a:rPr>
              <a:t>Security principles: Least privilege • Time-bound access • Full audit trail • No persistent admin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Compliance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Policy-based compliance evaluation across your entire fleet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84048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D4ED8"/>
                </a:solidFill>
              </a:rPr>
              <a:t>Policy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FileVault encryption enabled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Firewall enabled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Gatekeeper enforced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PSSO registered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Screen lock configured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Max check-in age (hours)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</a:rPr>
              <a:t>☑  Critical updates threshold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188720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D4ED8"/>
                </a:solidFill>
              </a:rPr>
              <a:t>Device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59669"/>
                </a:solidFill>
              </a:rPr>
              <a:t>✅ Compliant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02996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All rules passing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</a:rPr>
              <a:t>❌ Non-Compliant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71576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One or more rules failing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108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</a:rPr>
              <a:t>❓ Unknown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40156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Not yet evaluated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3703320"/>
            <a:ext cx="3474720" cy="265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Fleet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5196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→  Total enrolled devices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65429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→  # Compliant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566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→  # Non-compliant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45896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→  # 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86130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→  Active policies list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1188720"/>
            <a:ext cx="365760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D4ED8"/>
                </a:solidFill>
              </a:rPr>
              <a:t>Supported Frameworks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7830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CIS macOS Benchmark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0391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Center for Internet Security hardening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5328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NIST 800-53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7889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Federal security controls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2826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PCI DSS v4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387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Payment card industry 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0325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ISO 27001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28853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Information security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Custom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0383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Define your own policy rules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Multi-Tenancy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Built for SaaS — complete isolation between customers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47472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4358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Tenant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Every DB query: WHERE tenant_id = :id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3055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tenant_id from JWT, never from URL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56946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MDM endpoints: UDID → tenant_id lookup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0083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No cross-tenant data leakage possible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118872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1188720"/>
            <a:ext cx="34747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124358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6916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Dashboard: JWT Bearer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13055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MDM endpoints: mTLS device certificates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4528" y="256946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Agent: per-device agent 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0083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Portal: per-device tokens (no JWT)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18872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1188720"/>
            <a:ext cx="34747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7" y="124358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Profile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7" y="16916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Profiles signed with CMS PKCS#7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213055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SHA-256 signature, DER encoded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7" y="256946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macOS verifies signature on 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7" y="30083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CA cert embedded in signature bag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93192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3931920"/>
            <a:ext cx="347472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398678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44348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All admin actions logged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487375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Actor email + IP address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531266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Resource type + changes (JSONB)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57515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Filterable by action + resource type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393192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0" y="3931920"/>
            <a:ext cx="3474720" cy="411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24528" y="398678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Secrets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8" y="44348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APNs certs via AWS Secrets Manager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8" y="487375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JWT key in environment variable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531266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DB password never in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57515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LocalStack for dev (no AWS needed)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79" y="393192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55279" y="3931920"/>
            <a:ext cx="3474720" cy="411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7" y="398678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Network Security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7" y="44348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HTTPS everywhere (Caddy / ALB)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7" y="487375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APNs: TLS 1.2+ to api.push.apple.com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5007" y="531266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MDM commands: device cert verified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7" y="57515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</a:rPr>
              <a:t>✓  No raw plist bodies in logs (PII)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D8FF"/>
                </a:solidFill>
              </a:rPr>
              <a:t>End-to-end demonstration of key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49039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4358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 1: Enroll a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37360"/>
            <a:ext cx="3520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Generate enrollment token → Open URL in Safari on Mac → Install profile → Device appears enrolled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749039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188720"/>
            <a:ext cx="3749039" cy="4389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8" y="124358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 2: Remote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1737360"/>
            <a:ext cx="3520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Query device info → View serial/OS/model → Lock device with PIN → View command status in real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749039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3749039" cy="43891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24358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 3: Push PSSO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737360"/>
            <a:ext cx="3520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Policies → Platform SSO → Configure Entra tenant → Push to all devices → Verify profile on Mac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749040"/>
            <a:ext cx="3749039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749040"/>
            <a:ext cx="3749039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80390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 4: Software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4297680"/>
            <a:ext cx="3520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Install agent via bootstrap URL → Open self-service portal → Request Zoom/Firefox → Approve → Auto-installs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3749040"/>
            <a:ext cx="3749039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0" y="3749040"/>
            <a:ext cx="3749039" cy="43891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80390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 5: USB Block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4297680"/>
            <a:ext cx="3520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Device page → Block USB → Plug in USB stick → Blocked! → Remove USB Block → USB works again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749040"/>
            <a:ext cx="3749039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49040"/>
            <a:ext cx="3749039" cy="4389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7888" y="380390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 6: JIT Admin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4297680"/>
            <a:ext cx="3520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Portal → Request admin access (2h) → Approve in dashboard → Elevated → Auto-revoked after timeout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446520"/>
            <a:ext cx="11612880" cy="2926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73952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 demo time: ~15 minutes  |  All features running live on real macOS device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MDM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93C5FD"/>
                </a:solidFill>
              </a:rPr>
              <a:t>One platform to manage, secure, and support every Mac in your organisation.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552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Enrollment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3200400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32552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Remote 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PSSO / Entra 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32520" y="3200400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32552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Software Distribution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822192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USB 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822192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822192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JIT Admin Access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3822192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Audit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</a:rPr>
              <a:t>Built with FastAPI · PostgreSQL · Next.js · Apple APNs · AWS ECS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4ED8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Platform SSO — New Joiner Onboarding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AD8FF"/>
                </a:solidFill>
              </a:rPr>
              <a:t>PSSO auto-pushed on enrollment — zero admin effort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00000" cy="52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000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98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Onboarding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2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PSSO profile auto-pushed on enrollment — zero admin effort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4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New joiner installs Company Portal → registers with Entra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6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Login window authenticates against Microsoft Entra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8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New local macOS account created automatically at first 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50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All Microsoft apps (Teams, Outlook, Office) SSO automatically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2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No Intune license required — works with any MDM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000" y="1143000"/>
            <a:ext cx="5600000" cy="52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000" y="1143000"/>
            <a:ext cx="560000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1440" y="1198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Auth Methods &amp; Compatibility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1440" y="162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Secure Enclave Key (recommended)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1440" y="234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       Hardware-bound, T2 / M1 / M2 / M3 chip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1440" y="306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Password mode — Entra password synced locally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1440" y="378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       Works on VMs (UTM, Parallels)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1440" y="450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Tested: macOS 15.1 Sequoia (UTM VM)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1440" y="5223000"/>
            <a:ext cx="54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334155"/>
                </a:solidFill>
              </a:rPr>
              <a:t>→  Tested: macOS 26.2 Tahoe beta (Physical Mac)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4282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No Intune license required — PSSO works with any MDM via com.apple.extensiblesso payload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Device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AD8FF"/>
                </a:solidFill>
              </a:rPr>
              <a:t>From enrollment through wipe and redeployment — fully automated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94476" y="1200000"/>
            <a:ext cx="2560000" cy="4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4476" y="1200000"/>
            <a:ext cx="256000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916" y="1255000"/>
            <a:ext cx="237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Enrolled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916" y="17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MDM commands active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916" y="25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Compliance evaluated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916" y="33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PSSO auto-pushed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916" y="41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APNs push token stored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4476" y="3200000"/>
            <a:ext cx="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20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74476" y="1200000"/>
            <a:ext cx="2560000" cy="4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4476" y="1200000"/>
            <a:ext cx="256000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5916" y="1255000"/>
            <a:ext cx="237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Wiped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916" y="17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EraseDevice command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916" y="25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Status → wiped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5916" y="33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Push tokens cleared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5916" y="41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Audit log entry created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4476" y="3200000"/>
            <a:ext cx="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20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4476" y="1200000"/>
            <a:ext cx="2560000" cy="4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4476" y="1200000"/>
            <a:ext cx="256000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16" y="1255000"/>
            <a:ext cx="237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Spare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16" y="17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CheckOut received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16" y="25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Status → spare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16" y="33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Available for redeployment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16" y="41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Token cleared, ready to re-enroll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4476" y="3200000"/>
            <a:ext cx="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20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34476" y="1200000"/>
            <a:ext cx="2560000" cy="4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34476" y="1200000"/>
            <a:ext cx="25600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5916" y="1255000"/>
            <a:ext cx="237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Re-Enrolled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5916" y="17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Fresh enrollment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25916" y="25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New push token registered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5916" y="33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PSSO auto-pushed again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5916" y="4100000"/>
            <a:ext cx="237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50">
                <a:solidFill>
                  <a:srgbClr val="1E293B"/>
                </a:solidFill>
              </a:rPr>
              <a:t>✓  New joiner ready in minutes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4282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PSSO is automatically re-pushed on every re-enrollment — no admin action required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Tested On &amp; Compatibility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AD8FF"/>
                </a:solidFill>
              </a:rPr>
              <a:t>Real-world testing results for PSSO and MDM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0000"/>
            <a:ext cx="4750000" cy="64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30000"/>
            <a:ext cx="461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Platform / 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0000" y="1200000"/>
            <a:ext cx="3950000" cy="64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1440" y="1330000"/>
            <a:ext cx="381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Test 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30000" y="1200000"/>
            <a:ext cx="1750000" cy="64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1440" y="1330000"/>
            <a:ext cx="161712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000"/>
            <a:ext cx="4750000" cy="5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20000"/>
            <a:ext cx="4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macOS 15.1 Sequoia (UTM VM)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0000" y="1920000"/>
            <a:ext cx="3950000" cy="5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1440" y="2020000"/>
            <a:ext cx="38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Password PSSO auth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30000" y="1920000"/>
            <a:ext cx="1750000" cy="58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1440" y="2020000"/>
            <a:ext cx="1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0000"/>
            <a:ext cx="4750000" cy="58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60000"/>
            <a:ext cx="4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macOS 26.2 Tahoe beta (Physical MacBook Pro)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000" y="2560000"/>
            <a:ext cx="3950000" cy="58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1440" y="2660000"/>
            <a:ext cx="38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Secure Enclave Key PSSO auth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30000" y="2560000"/>
            <a:ext cx="1750000" cy="58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1440" y="2660000"/>
            <a:ext cx="1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00000"/>
            <a:ext cx="4750000" cy="5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00000"/>
            <a:ext cx="4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Microsoft Entra ID PSSO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0000" y="3200000"/>
            <a:ext cx="3950000" cy="5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1440" y="3300000"/>
            <a:ext cx="38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No Intune license required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30000" y="3200000"/>
            <a:ext cx="1750000" cy="58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21440" y="3300000"/>
            <a:ext cx="1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40000"/>
            <a:ext cx="4750000" cy="58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40000"/>
            <a:ext cx="4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Browser SSO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0000" y="3840000"/>
            <a:ext cx="3950000" cy="58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1440" y="3940000"/>
            <a:ext cx="38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Safari, Microsoft 365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30000" y="3840000"/>
            <a:ext cx="1750000" cy="58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21440" y="3940000"/>
            <a:ext cx="1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80000"/>
            <a:ext cx="4750000" cy="5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580000"/>
            <a:ext cx="4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MDM Enrollment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0000" y="4480000"/>
            <a:ext cx="3950000" cy="5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1440" y="4580000"/>
            <a:ext cx="38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Safari enrollment profile install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30000" y="4480000"/>
            <a:ext cx="1750000" cy="58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21440" y="4580000"/>
            <a:ext cx="1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120000"/>
            <a:ext cx="4750000" cy="58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220000"/>
            <a:ext cx="4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Remote Wipe (EraseDevice)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0000" y="5120000"/>
            <a:ext cx="3950000" cy="580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1440" y="5220000"/>
            <a:ext cx="38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BD5E1"/>
                </a:solidFill>
              </a:rPr>
              <a:t>Status → wiped, tokens cleared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30000" y="5120000"/>
            <a:ext cx="1750000" cy="58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21440" y="5220000"/>
            <a:ext cx="1617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4282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All tests performed with Microsoft Company Portal (free from Mac App Store)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